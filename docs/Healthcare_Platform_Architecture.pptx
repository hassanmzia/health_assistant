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0" y="2286000"/>
            <a:ext cx="8534095" cy="38100"/>
          </a:xfrm>
          <a:prstGeom prst="roundRect">
            <a:avLst/>
          </a:prstGeom>
          <a:solidFill>
            <a:srgbClr val="38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468880"/>
            <a:ext cx="8534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Healthcare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91840"/>
            <a:ext cx="8534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0A5FA"/>
                </a:solidFill>
                <a:latin typeface="Calibri"/>
              </a:defRPr>
            </a:pPr>
            <a:r>
              <a:t>Technical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931920"/>
            <a:ext cx="8534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  <a:latin typeface="Calibri"/>
              </a:defRPr>
            </a:pPr>
            <a:r>
              <a:t>FHIR R4 Compliant  ·  Multi-Agent NLP-to-SQL  ·  Human-in-the-Loop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029200"/>
            <a:ext cx="8534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React  ·  Django  ·  FastAPI  ·  LangGraph  ·  MCP  ·  PostgreSQL  ·  Redis  ·  Socket.IO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System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6 microservices orchestrated via Docker Compose, unified by a single PostgreSQL database and Redis instance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566160" cy="2377440"/>
          </a:xfrm>
          <a:prstGeom prst="roundRect">
            <a:avLst/>
          </a:prstGeom>
          <a:solidFill>
            <a:srgbClr val="1E3A5F"/>
          </a:solidFill>
          <a:ln w="25400">
            <a:solidFill>
              <a:srgbClr val="38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82F6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React + Vite + Nginx  ·  Port 3040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D1D5DB"/>
                </a:solidFill>
                <a:latin typeface="Calibri"/>
              </a:rPr>
              <a:t>  •  Chat NLP Interface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D1D5DB"/>
                </a:solidFill>
                <a:latin typeface="Calibri"/>
              </a:rPr>
              <a:t>  •  FHIR Data Browser (12 resources)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D1D5DB"/>
                </a:solidFill>
                <a:latin typeface="Calibri"/>
              </a:rPr>
              <a:t>  •  Dashboard &amp; Statistics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D1D5DB"/>
                </a:solidFill>
                <a:latin typeface="Calibri"/>
              </a:rPr>
              <a:t>  •  HITL Approval Panel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D1D5DB"/>
                </a:solidFill>
                <a:latin typeface="Calibri"/>
              </a:rPr>
              <a:t>  •  Agent Monitor &amp; Observability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188720"/>
            <a:ext cx="3566160" cy="2377440"/>
          </a:xfrm>
          <a:prstGeom prst="roundRect">
            <a:avLst/>
          </a:prstGeom>
          <a:solidFill>
            <a:srgbClr val="5C3D0C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2801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Calibri"/>
              </a:defRPr>
            </a:pPr>
            <a:r>
              <a:t>WebSocket Server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5544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Node.js + Socket.IO  ·  Port 3002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874519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D1D5DB"/>
                </a:solidFill>
                <a:latin typeface="Calibri"/>
              </a:rPr>
              <a:t>  •  Real-time bidirectional events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D1D5DB"/>
                </a:solidFill>
                <a:latin typeface="Calibri"/>
              </a:rPr>
              <a:t>  •  submit_query / submit_decision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D1D5DB"/>
                </a:solidFill>
                <a:latin typeface="Calibri"/>
              </a:rPr>
              <a:t>  •  approval_required / query_result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D1D5DB"/>
                </a:solidFill>
                <a:latin typeface="Calibri"/>
              </a:rPr>
              <a:t>  •  Redis Pub/Sub bridge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D1D5DB"/>
                </a:solidFill>
                <a:latin typeface="Calibri"/>
              </a:rPr>
              <a:t>  •  Session management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188720"/>
            <a:ext cx="3566160" cy="2377440"/>
          </a:xfrm>
          <a:prstGeom prst="roundRect">
            <a:avLst/>
          </a:prstGeom>
          <a:solidFill>
            <a:srgbClr val="5B2146"/>
          </a:solidFill>
          <a:ln w="254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2801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C4899"/>
                </a:solidFill>
                <a:latin typeface="Calibri"/>
              </a:defRPr>
            </a:pPr>
            <a:r>
              <a:t>Agent Orchestrator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5544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FastAPI + LangGraph  ·  Port 8001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1874519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D1D5DB"/>
                </a:solidFill>
                <a:latin typeface="Calibri"/>
              </a:rPr>
              <a:t>  •  9-node LangGraph workflow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D1D5DB"/>
                </a:solidFill>
                <a:latin typeface="Calibri"/>
              </a:rPr>
              <a:t>  •  SQLAgent (GPT-4o-mini)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D1D5DB"/>
                </a:solidFill>
                <a:latin typeface="Calibri"/>
              </a:rPr>
              <a:t>  •  ClassifierAgent (PHI + Risk)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D1D5DB"/>
                </a:solidFill>
                <a:latin typeface="Calibri"/>
              </a:rPr>
              <a:t>  •  ExecutorAgent (asyncpg)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D1D5DB"/>
                </a:solidFill>
                <a:latin typeface="Calibri"/>
              </a:rPr>
              <a:t>  •  HITLAgent (interrupt/resume)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794760"/>
            <a:ext cx="3566160" cy="2377440"/>
          </a:xfrm>
          <a:prstGeom prst="roundRect">
            <a:avLst/>
          </a:prstGeom>
          <a:solidFill>
            <a:srgbClr val="064E3B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8862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Calibri"/>
              </a:defRPr>
            </a:pPr>
            <a:r>
              <a:t>MCP Server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16052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Node.js + Express + pg  ·  Port 3001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48056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D1D5DB"/>
                </a:solidFill>
                <a:latin typeface="Calibri"/>
              </a:rPr>
              <a:t>  •  GET /schema (fhir_* only)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D1D5DB"/>
                </a:solidFill>
                <a:latin typeface="Calibri"/>
              </a:rPr>
              <a:t>  •  POST /validate-sql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D1D5DB"/>
                </a:solidFill>
                <a:latin typeface="Calibri"/>
              </a:rPr>
              <a:t>  •  GET /tools &amp; POST /tools/:name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D1D5DB"/>
                </a:solidFill>
                <a:latin typeface="Calibri"/>
              </a:rPr>
              <a:t>  •  GET /resources (FHIR bundles)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D1D5DB"/>
                </a:solidFill>
                <a:latin typeface="Calibri"/>
              </a:rPr>
              <a:t>  •  SQL injection detection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3794760"/>
            <a:ext cx="3566160" cy="2377440"/>
          </a:xfrm>
          <a:prstGeom prst="roundRect">
            <a:avLst/>
          </a:prstGeom>
          <a:solidFill>
            <a:srgbClr val="0D4F4B"/>
          </a:solidFill>
          <a:ln w="254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80" y="38862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B8A6"/>
                </a:solidFill>
                <a:latin typeface="Calibri"/>
              </a:defRPr>
            </a:pPr>
            <a:r>
              <a:t>Django Backend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416052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Gunicorn + DRF + ORM  ·  Port 8000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448056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D1D5DB"/>
                </a:solidFill>
                <a:latin typeface="Calibri"/>
              </a:rPr>
              <a:t>  •  /api/fhir/* — CRUD + Search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D1D5DB"/>
                </a:solidFill>
                <a:latin typeface="Calibri"/>
              </a:rPr>
              <a:t>  •  /api/audit/* — Audit trail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D1D5DB"/>
                </a:solidFill>
                <a:latin typeface="Calibri"/>
              </a:rPr>
              <a:t>  •  /api/hitl/* — Approval tasks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D1D5DB"/>
                </a:solidFill>
                <a:latin typeface="Calibri"/>
              </a:rPr>
              <a:t>  •  /api/observability/* — Metrics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D1D5DB"/>
                </a:solidFill>
                <a:latin typeface="Calibri"/>
              </a:rPr>
              <a:t>  •  /admin/ — Django Admin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794760"/>
            <a:ext cx="3566160" cy="2377440"/>
          </a:xfrm>
          <a:prstGeom prst="roundRect">
            <a:avLst/>
          </a:prstGeom>
          <a:solidFill>
            <a:srgbClr val="27285B"/>
          </a:solidFill>
          <a:ln w="254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60" y="38862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366F1"/>
                </a:solidFill>
                <a:latin typeface="Calibri"/>
              </a:defRPr>
            </a:pPr>
            <a:r>
              <a:t>Data Layer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416052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PostgreSQL 16 + Redis 7  ·  Ports 5432 / 6379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48056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D1D5DB"/>
                </a:solidFill>
                <a:latin typeface="Calibri"/>
              </a:rPr>
              <a:t>  •  12 FHIR R4 tables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D1D5DB"/>
                </a:solidFill>
                <a:latin typeface="Calibri"/>
              </a:rPr>
              <a:t>  •  audit_log + agent_interactions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D1D5DB"/>
                </a:solidFill>
                <a:latin typeface="Calibri"/>
              </a:rPr>
              <a:t>  •  Redis DB 0-3 partitioning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D1D5DB"/>
                </a:solidFill>
                <a:latin typeface="Calibri"/>
              </a:rPr>
              <a:t>  •  Schema, Cache, State, Pub/Sub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D1D5DB"/>
                </a:solidFill>
                <a:latin typeface="Calibri"/>
              </a:rPr>
              <a:t>  •  LangGraph checkpoints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Request Flow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End-to-end flow from natural language query to database result with Human-in-the-Loop governance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280160"/>
            <a:ext cx="1188720" cy="1463040"/>
          </a:xfrm>
          <a:prstGeom prst="roundRect">
            <a:avLst/>
          </a:prstGeom>
          <a:solidFill>
            <a:srgbClr val="1E3A5F"/>
          </a:solidFill>
          <a:ln w="25400">
            <a:solidFill>
              <a:srgbClr val="38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353312"/>
            <a:ext cx="365760" cy="365760"/>
          </a:xfrm>
          <a:prstGeom prst="ellipse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0F172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" y="1783080"/>
            <a:ext cx="10424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882F6"/>
                </a:solidFill>
                <a:latin typeface="Calibri"/>
              </a:defRPr>
            </a:pPr>
            <a: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" y="2011680"/>
            <a:ext cx="104241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1D5DB"/>
                </a:solidFill>
                <a:latin typeface="Calibri"/>
              </a:defRPr>
            </a:pPr>
            <a:r>
              <a:t>Chat UI sends</a:t>
            </a:r>
            <a:br/>
            <a:r>
              <a:t>natural language</a:t>
            </a:r>
            <a:br/>
            <a:r>
              <a:t>via Socket.IO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517904" y="1938528"/>
            <a:ext cx="109728" cy="146304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618488" y="1280160"/>
            <a:ext cx="1188720" cy="1463040"/>
          </a:xfrm>
          <a:prstGeom prst="roundRect">
            <a:avLst/>
          </a:prstGeom>
          <a:solidFill>
            <a:srgbClr val="5C3D0C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029968" y="1353312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0F172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783080"/>
            <a:ext cx="10424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  <a:latin typeface="Calibri"/>
              </a:defRPr>
            </a:pPr>
            <a:r>
              <a:t>WS 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011680"/>
            <a:ext cx="104241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1D5DB"/>
                </a:solidFill>
                <a:latin typeface="Calibri"/>
              </a:defRPr>
            </a:pPr>
            <a:r>
              <a:t>Receives event,</a:t>
            </a:r>
            <a:br/>
            <a:r>
              <a:t>POSTs to Agent</a:t>
            </a:r>
            <a:br/>
            <a:r>
              <a:t>Orchestrator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816352" y="1938528"/>
            <a:ext cx="109728" cy="146304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916936" y="1280160"/>
            <a:ext cx="1188720" cy="1463040"/>
          </a:xfrm>
          <a:prstGeom prst="roundRect">
            <a:avLst/>
          </a:prstGeom>
          <a:solidFill>
            <a:srgbClr val="064E3B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328416" y="1353312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0F172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0088" y="1783080"/>
            <a:ext cx="10424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Calibri"/>
              </a:defRPr>
            </a:pPr>
            <a:r>
              <a:t>Fetch Schema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0088" y="2011680"/>
            <a:ext cx="104241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1D5DB"/>
                </a:solidFill>
                <a:latin typeface="Calibri"/>
              </a:defRPr>
            </a:pPr>
            <a:r>
              <a:t>GET /schema from</a:t>
            </a:r>
            <a:br/>
            <a:r>
              <a:t>MCP Server</a:t>
            </a:r>
            <a:br/>
            <a:r>
              <a:t>(fhir_* tables)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114800" y="1938528"/>
            <a:ext cx="109728" cy="146304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215384" y="1280160"/>
            <a:ext cx="1188720" cy="1463040"/>
          </a:xfrm>
          <a:prstGeom prst="roundRect">
            <a:avLst/>
          </a:prstGeom>
          <a:solidFill>
            <a:srgbClr val="5B2146"/>
          </a:solidFill>
          <a:ln w="254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626864" y="1353312"/>
            <a:ext cx="365760" cy="36576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0F172A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88536" y="1783080"/>
            <a:ext cx="10424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C4899"/>
                </a:solidFill>
                <a:latin typeface="Calibri"/>
              </a:defRPr>
            </a:pPr>
            <a:r>
              <a:t>Generate 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88536" y="2011680"/>
            <a:ext cx="104241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1D5DB"/>
                </a:solidFill>
                <a:latin typeface="Calibri"/>
              </a:defRPr>
            </a:pPr>
            <a:r>
              <a:t>SQLAgent +</a:t>
            </a:r>
            <a:br/>
            <a:r>
              <a:t>GPT-4o-mini</a:t>
            </a:r>
            <a:br/>
            <a:r>
              <a:t>FHIR R4 prompt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413248" y="1938528"/>
            <a:ext cx="109728" cy="146304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513832" y="1280160"/>
            <a:ext cx="1188720" cy="1463040"/>
          </a:xfrm>
          <a:prstGeom prst="roundRect">
            <a:avLst/>
          </a:prstGeom>
          <a:solidFill>
            <a:srgbClr val="3B246B"/>
          </a:solidFill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925312" y="1353312"/>
            <a:ext cx="365760" cy="3657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0F172A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86984" y="1783080"/>
            <a:ext cx="10424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B5CF6"/>
                </a:solidFill>
                <a:latin typeface="Calibri"/>
              </a:defRPr>
            </a:pPr>
            <a:r>
              <a:t>Classify &amp; Guard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86984" y="2011680"/>
            <a:ext cx="104241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1D5DB"/>
                </a:solidFill>
                <a:latin typeface="Calibri"/>
              </a:defRPr>
            </a:pPr>
            <a:r>
              <a:t>PHI detection,</a:t>
            </a:r>
            <a:br/>
            <a:r>
              <a:t>risk scoring,</a:t>
            </a:r>
            <a:br/>
            <a:r>
              <a:t>guardrail checks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6711696" y="1938528"/>
            <a:ext cx="109728" cy="146304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812280" y="1280160"/>
            <a:ext cx="1188720" cy="1463040"/>
          </a:xfrm>
          <a:prstGeom prst="roundRect">
            <a:avLst/>
          </a:prstGeom>
          <a:solidFill>
            <a:srgbClr val="5C3D0C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223760" y="1353312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0F172A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85432" y="1783080"/>
            <a:ext cx="10424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  <a:latin typeface="Calibri"/>
              </a:defRPr>
            </a:pPr>
            <a:r>
              <a:t>Route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85432" y="2011680"/>
            <a:ext cx="104241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1D5DB"/>
                </a:solidFill>
                <a:latin typeface="Calibri"/>
              </a:defRPr>
            </a:pPr>
            <a:r>
              <a:t>READ → auto-exec</a:t>
            </a:r>
            <a:br/>
            <a:r>
              <a:t>WRITE → HITL gate</a:t>
            </a:r>
            <a:br/>
            <a:r>
              <a:t>UNSAFE → reject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8010144" y="1938528"/>
            <a:ext cx="109728" cy="146304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110728" y="1280160"/>
            <a:ext cx="1188720" cy="1463040"/>
          </a:xfrm>
          <a:prstGeom prst="roundRect">
            <a:avLst/>
          </a:prstGeom>
          <a:solidFill>
            <a:srgbClr val="064E3B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522208" y="1353312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0F172A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3880" y="1783080"/>
            <a:ext cx="10424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Calibri"/>
              </a:defRPr>
            </a:pPr>
            <a:r>
              <a:t>Execute SQL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83880" y="2011680"/>
            <a:ext cx="104241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1D5DB"/>
                </a:solidFill>
                <a:latin typeface="Calibri"/>
              </a:defRPr>
            </a:pPr>
            <a:r>
              <a:t>ExecutorAgent</a:t>
            </a:r>
            <a:br/>
            <a:r>
              <a:t>runs query via</a:t>
            </a:r>
            <a:br/>
            <a:r>
              <a:t>asyncpg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9308592" y="1938528"/>
            <a:ext cx="109728" cy="146304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409176" y="1280160"/>
            <a:ext cx="1188720" cy="1463040"/>
          </a:xfrm>
          <a:prstGeom prst="roundRect">
            <a:avLst/>
          </a:prstGeom>
          <a:solidFill>
            <a:srgbClr val="5B2146"/>
          </a:solidFill>
          <a:ln w="254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820656" y="1353312"/>
            <a:ext cx="365760" cy="36576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0F172A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82328" y="1783080"/>
            <a:ext cx="10424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C4899"/>
                </a:solidFill>
                <a:latin typeface="Calibri"/>
              </a:defRPr>
            </a:pPr>
            <a:r>
              <a:t>Present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82328" y="2011680"/>
            <a:ext cx="104241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1D5DB"/>
                </a:solidFill>
                <a:latin typeface="Calibri"/>
              </a:defRPr>
            </a:pPr>
            <a:r>
              <a:t>LLM summarizes</a:t>
            </a:r>
            <a:br/>
            <a:r>
              <a:t>raw results into</a:t>
            </a:r>
            <a:br/>
            <a:r>
              <a:t>human text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10607040" y="1938528"/>
            <a:ext cx="109728" cy="146304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707624" y="1280160"/>
            <a:ext cx="1188720" cy="1463040"/>
          </a:xfrm>
          <a:prstGeom prst="roundRect">
            <a:avLst/>
          </a:prstGeom>
          <a:solidFill>
            <a:srgbClr val="27285B"/>
          </a:solidFill>
          <a:ln w="254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119104" y="1353312"/>
            <a:ext cx="365760" cy="36576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0F172A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80776" y="1783080"/>
            <a:ext cx="10424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366F1"/>
                </a:solidFill>
                <a:latin typeface="Calibri"/>
              </a:defRPr>
            </a:pPr>
            <a:r>
              <a:t>Audit Log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80776" y="2011680"/>
            <a:ext cx="104241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1D5DB"/>
                </a:solidFill>
                <a:latin typeface="Calibri"/>
              </a:defRPr>
            </a:pPr>
            <a:r>
              <a:t>Record to</a:t>
            </a:r>
            <a:br/>
            <a:r>
              <a:t>audit_log &amp;</a:t>
            </a:r>
            <a:br/>
            <a:r>
              <a:t>agent_interactions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3108960"/>
            <a:ext cx="11247120" cy="14630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3200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Human-in-the-Loop (HITL) Approval Flow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352044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D1D5DB"/>
                </a:solidFill>
                <a:latin typeface="Calibri"/>
              </a:rPr>
              <a:t>  •  WRITE queries or PHI access detected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D1D5DB"/>
                </a:solidFill>
                <a:latin typeface="Calibri"/>
              </a:rPr>
              <a:t>  •  LangGraph interrupt() pauses workflow at hitl_gate node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D1D5DB"/>
                </a:solidFill>
                <a:latin typeface="Calibri"/>
              </a:rPr>
              <a:t>  •  WebSocket emits approval_required → Approval Panel appears in Chat UI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D1D5DB"/>
                </a:solidFill>
                <a:latin typeface="Calibri"/>
              </a:rPr>
              <a:t>  •  Reviewer sees: Generated SQL, Risk Score (%), Risk Assessment, Query Type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0B981"/>
                </a:solidFill>
                <a:latin typeface="Calibri"/>
              </a:rPr>
              <a:t>  •  APPROVED → resume workflow → execute_sql → present_results → audit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EF4444"/>
                </a:solidFill>
                <a:latin typeface="Calibri"/>
              </a:rPr>
              <a:t>  •  REJECTED → handle_rejection → log_audit → notify user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17920" y="3520440"/>
            <a:ext cx="5303520" cy="914400"/>
          </a:xfrm>
          <a:prstGeom prst="roundRect">
            <a:avLst/>
          </a:prstGeom>
          <a:solidFill>
            <a:srgbClr val="273449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0" y="3566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Calibri"/>
              </a:defRPr>
            </a:pPr>
            <a:r>
              <a:t>Security &amp; Safety Layers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384048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0">
                <a:solidFill>
                  <a:srgbClr val="D1D5DB"/>
                </a:solidFill>
                <a:latin typeface="Calibri"/>
              </a:rPr>
              <a:t>  •  Toxicity filter — blocks hate speech, discrimination, malicious intent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D1D5DB"/>
                </a:solidFill>
                <a:latin typeface="Calibri"/>
              </a:rPr>
              <a:t>  •  PHI detector — identifies 40+ sensitive column patterns (HIPAA)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D1D5DB"/>
                </a:solidFill>
                <a:latin typeface="Calibri"/>
              </a:rPr>
              <a:t>  •  Blocked columns — SSN, Passport, Drivers License always denied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D1D5DB"/>
                </a:solidFill>
                <a:latin typeface="Calibri"/>
              </a:rPr>
              <a:t>  •  SQL injection detection — ;DROP, UNION SELECT, 'OR 1=1' patterns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D1D5DB"/>
                </a:solidFill>
                <a:latin typeface="Calibri"/>
              </a:rPr>
              <a:t>  •  SELECT * prohibition — enforces data minimization principle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D1D5DB"/>
                </a:solidFill>
                <a:latin typeface="Calibri"/>
              </a:rPr>
              <a:t>  •  Audit logging — every query, decision, and result recorded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7200" y="4846320"/>
            <a:ext cx="1124712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1520" y="4937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82F6"/>
                </a:solidFill>
                <a:latin typeface="Calibri"/>
              </a:defRPr>
            </a:pPr>
            <a:r>
              <a:t>Two Data Access Paths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" y="525780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60A5FA"/>
                </a:solidFill>
                <a:latin typeface="Calibri"/>
              </a:rPr>
              <a:t>Chat NLP Path (Agent-mediated):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D1D5DB"/>
                </a:solidFill>
                <a:latin typeface="Calibri"/>
              </a:rPr>
              <a:t>  Frontend → Socket.IO → WS Server → Agent Orchestrator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D1D5DB"/>
                </a:solidFill>
                <a:latin typeface="Calibri"/>
              </a:rPr>
              <a:t>  → MCP Server (schema) → SQLAgent (generate) → Classifier (guard)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D1D5DB"/>
                </a:solidFill>
                <a:latin typeface="Calibri"/>
              </a:rPr>
              <a:t>  → Executor (asyncpg → PostgreSQL) → LLM Summary → Frontend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17920" y="525780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Calibri"/>
              </a:rPr>
              <a:t>FHIR Browser Path (Direct REST):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D1D5DB"/>
                </a:solidFill>
                <a:latin typeface="Calibri"/>
              </a:rPr>
              <a:t>  Frontend → HTTP GET/POST → Django Backend (DRF)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D1D5DB"/>
                </a:solidFill>
                <a:latin typeface="Calibri"/>
              </a:rPr>
              <a:t>  → Django ORM → PostgreSQL (fhir_* tables)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D1D5DB"/>
                </a:solidFill>
                <a:latin typeface="Calibri"/>
              </a:rPr>
              <a:t>  → JSON response → React table/detail views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LangGraph Multi-Agent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Stateful graph with conditional routing, interrupt/resume for HITL, and comprehensive audit logging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914400" cy="457200"/>
          </a:xfrm>
          <a:prstGeom prst="roundRect">
            <a:avLst/>
          </a:prstGeom>
          <a:solidFill>
            <a:srgbClr val="273449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1280160"/>
            <a:ext cx="2194560" cy="640080"/>
          </a:xfrm>
          <a:prstGeom prst="roundRect">
            <a:avLst/>
          </a:prstGeom>
          <a:solidFill>
            <a:srgbClr val="5B2146"/>
          </a:solidFill>
          <a:ln w="254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83080" y="132588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C4899"/>
                </a:solidFill>
                <a:latin typeface="Calibri"/>
              </a:defRPr>
            </a:pPr>
            <a:r>
              <a:t>1. check_toxicity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536192"/>
            <a:ext cx="19202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D1D5DB"/>
                </a:solidFill>
                <a:latin typeface="Calibri"/>
              </a:defRPr>
            </a:pPr>
            <a:r>
              <a:t>Filter harmful queries</a:t>
            </a:r>
            <a:br/>
            <a:r>
              <a:t>Hate speech, discrimination,</a:t>
            </a:r>
            <a:br/>
            <a:r>
              <a:t>malicious intent detection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45920" y="2103120"/>
            <a:ext cx="2194560" cy="640080"/>
          </a:xfrm>
          <a:prstGeom prst="roundRect">
            <a:avLst/>
          </a:prstGeom>
          <a:solidFill>
            <a:srgbClr val="064E3B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2148839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2. fetch_schema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359152"/>
            <a:ext cx="19202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D1D5DB"/>
                </a:solidFill>
                <a:latin typeface="Calibri"/>
              </a:defRPr>
            </a:pPr>
            <a:r>
              <a:t>GET /schema from MCP</a:t>
            </a:r>
            <a:br/>
            <a:r>
              <a:t>Returns fhir_* tables</a:t>
            </a:r>
            <a:br/>
            <a:r>
              <a:t>Cached in Redis DB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45920" y="2926080"/>
            <a:ext cx="2194560" cy="640080"/>
          </a:xfrm>
          <a:prstGeom prst="roundRect">
            <a:avLst/>
          </a:prstGeom>
          <a:solidFill>
            <a:srgbClr val="5B2146"/>
          </a:solidFill>
          <a:ln w="254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83080" y="297180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C4899"/>
                </a:solidFill>
                <a:latin typeface="Calibri"/>
              </a:defRPr>
            </a:pPr>
            <a:r>
              <a:t>3. generate_sql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182112"/>
            <a:ext cx="19202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D1D5DB"/>
                </a:solidFill>
                <a:latin typeface="Calibri"/>
              </a:defRPr>
            </a:pPr>
            <a:r>
              <a:t>SQLAgent + GPT-4o-mini</a:t>
            </a:r>
            <a:br/>
            <a:r>
              <a:t>FHIR R4 prompt (12 tables)</a:t>
            </a:r>
            <a:br/>
            <a:r>
              <a:t>AGE() function guidance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45920" y="3749039"/>
            <a:ext cx="2194560" cy="640080"/>
          </a:xfrm>
          <a:prstGeom prst="roundRect">
            <a:avLst/>
          </a:prstGeom>
          <a:solidFill>
            <a:srgbClr val="3B246B"/>
          </a:solidFill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83080" y="3794759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Calibri"/>
              </a:defRPr>
            </a:pPr>
            <a:r>
              <a:t>4. classify_query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4005072"/>
            <a:ext cx="19202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D1D5DB"/>
                </a:solidFill>
                <a:latin typeface="Calibri"/>
              </a:defRPr>
            </a:pPr>
            <a:r>
              <a:t>ClassifierAgent</a:t>
            </a:r>
            <a:br/>
            <a:r>
              <a:t>PHI column detection</a:t>
            </a:r>
            <a:br/>
            <a:r>
              <a:t>Risk score (0.0 – 1.0)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45920" y="4572000"/>
            <a:ext cx="2194560" cy="640080"/>
          </a:xfrm>
          <a:prstGeom prst="roundRect">
            <a:avLst/>
          </a:prstGeom>
          <a:solidFill>
            <a:srgbClr val="5C1A1A"/>
          </a:solidFill>
          <a:ln w="254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83080" y="461772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Calibri"/>
              </a:defRPr>
            </a:pPr>
            <a:r>
              <a:t>5. check_guardrails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4828032"/>
            <a:ext cx="19202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D1D5DB"/>
                </a:solidFill>
                <a:latin typeface="Calibri"/>
              </a:defRPr>
            </a:pPr>
            <a:r>
              <a:t>SQL injection patterns</a:t>
            </a:r>
            <a:br/>
            <a:r>
              <a:t>SELECT * prohibition</a:t>
            </a:r>
            <a:br/>
            <a:r>
              <a:t>Blocked columns check</a:t>
            </a:r>
          </a:p>
        </p:txBody>
      </p:sp>
      <p:sp>
        <p:nvSpPr>
          <p:cNvPr id="21" name="Diamond 20"/>
          <p:cNvSpPr/>
          <p:nvPr/>
        </p:nvSpPr>
        <p:spPr>
          <a:xfrm>
            <a:off x="4389120" y="4663440"/>
            <a:ext cx="1097280" cy="731520"/>
          </a:xfrm>
          <a:prstGeom prst="diamond">
            <a:avLst/>
          </a:prstGeom>
          <a:solidFill>
            <a:srgbClr val="064E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0B981"/>
                </a:solidFill>
                <a:latin typeface="Calibri"/>
              </a:defRPr>
            </a:pPr>
            <a:r>
              <a:t>READ</a:t>
            </a:r>
            <a:br/>
            <a:r>
              <a:t>(Auto)</a:t>
            </a:r>
          </a:p>
        </p:txBody>
      </p:sp>
      <p:sp>
        <p:nvSpPr>
          <p:cNvPr id="22" name="Diamond 21"/>
          <p:cNvSpPr/>
          <p:nvPr/>
        </p:nvSpPr>
        <p:spPr>
          <a:xfrm>
            <a:off x="5760720" y="4663440"/>
            <a:ext cx="1097280" cy="731520"/>
          </a:xfrm>
          <a:prstGeom prst="diamond">
            <a:avLst/>
          </a:prstGeom>
          <a:solidFill>
            <a:srgbClr val="5C3D0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59E0B"/>
                </a:solidFill>
                <a:latin typeface="Calibri"/>
              </a:defRPr>
            </a:pPr>
            <a:r>
              <a:t>WRITE</a:t>
            </a:r>
            <a:br/>
            <a:r>
              <a:t>(HITL)</a:t>
            </a:r>
          </a:p>
        </p:txBody>
      </p:sp>
      <p:sp>
        <p:nvSpPr>
          <p:cNvPr id="23" name="Diamond 22"/>
          <p:cNvSpPr/>
          <p:nvPr/>
        </p:nvSpPr>
        <p:spPr>
          <a:xfrm>
            <a:off x="7132320" y="4663440"/>
            <a:ext cx="1097280" cy="731520"/>
          </a:xfrm>
          <a:prstGeom prst="diamond">
            <a:avLst/>
          </a:prstGeom>
          <a:solidFill>
            <a:srgbClr val="5C1A1A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F4444"/>
                </a:solidFill>
                <a:latin typeface="Calibri"/>
              </a:defRPr>
            </a:pPr>
            <a:r>
              <a:t>UNSAFE</a:t>
            </a:r>
            <a:br/>
            <a:r>
              <a:t>(Block)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2926080"/>
            <a:ext cx="2286000" cy="640080"/>
          </a:xfrm>
          <a:prstGeom prst="roundRect">
            <a:avLst/>
          </a:prstGeom>
          <a:solidFill>
            <a:srgbClr val="5C3D0C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60" y="29718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6. hitl_gate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3182112"/>
            <a:ext cx="201168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D1D5DB"/>
                </a:solidFill>
                <a:latin typeface="Calibri"/>
              </a:defRPr>
            </a:pPr>
            <a:r>
              <a:t>LangGraph interrupt()</a:t>
            </a:r>
            <a:br/>
            <a:r>
              <a:t>Awaits human decision</a:t>
            </a:r>
            <a:br/>
            <a:r>
              <a:t>Approve / Reject + Notes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0" y="1280160"/>
            <a:ext cx="2286000" cy="640080"/>
          </a:xfrm>
          <a:prstGeom prst="roundRect">
            <a:avLst/>
          </a:prstGeom>
          <a:solidFill>
            <a:srgbClr val="064E3B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9160" y="13258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7. execute_sql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1536192"/>
            <a:ext cx="201168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D1D5DB"/>
                </a:solidFill>
                <a:latin typeface="Calibri"/>
              </a:defRPr>
            </a:pPr>
            <a:r>
              <a:t>ExecutorAgent</a:t>
            </a:r>
            <a:br/>
            <a:r>
              <a:t>asyncpg direct to PostgreSQL</a:t>
            </a:r>
            <a:br/>
            <a:r>
              <a:t>Parameterized queries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0" y="1280160"/>
            <a:ext cx="2286000" cy="640080"/>
          </a:xfrm>
          <a:prstGeom prst="roundRect">
            <a:avLst/>
          </a:prstGeom>
          <a:solidFill>
            <a:srgbClr val="5B2146"/>
          </a:solidFill>
          <a:ln w="254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52360" y="13258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C4899"/>
                </a:solidFill>
                <a:latin typeface="Calibri"/>
              </a:defRPr>
            </a:pPr>
            <a:r>
              <a:t>8. present_results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60" y="1536192"/>
            <a:ext cx="201168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D1D5DB"/>
                </a:solidFill>
                <a:latin typeface="Calibri"/>
              </a:defRPr>
            </a:pPr>
            <a:r>
              <a:t>LLM summarization</a:t>
            </a:r>
            <a:br/>
            <a:r>
              <a:t>Raw SQL → human text</a:t>
            </a:r>
            <a:br/>
            <a:r>
              <a:t>Markdown formatting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0" y="2103120"/>
            <a:ext cx="2286000" cy="640080"/>
          </a:xfrm>
          <a:prstGeom prst="roundRect">
            <a:avLst/>
          </a:prstGeom>
          <a:solidFill>
            <a:srgbClr val="27285B"/>
          </a:solidFill>
          <a:ln w="254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52360" y="2148839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6F1"/>
                </a:solidFill>
                <a:latin typeface="Calibri"/>
              </a:defRPr>
            </a:pPr>
            <a:r>
              <a:t>9. log_audit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2359152"/>
            <a:ext cx="201168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D1D5DB"/>
                </a:solidFill>
                <a:latin typeface="Calibri"/>
              </a:defRPr>
            </a:pPr>
            <a:r>
              <a:t>audit_log table</a:t>
            </a:r>
            <a:br/>
            <a:r>
              <a:t>agent_interactions table</a:t>
            </a:r>
            <a:br/>
            <a:r>
              <a:t>Full query lifecycle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0" y="2926080"/>
            <a:ext cx="2286000" cy="640080"/>
          </a:xfrm>
          <a:prstGeom prst="roundRect">
            <a:avLst/>
          </a:prstGeom>
          <a:solidFill>
            <a:srgbClr val="5C1A1A"/>
          </a:solidFill>
          <a:ln w="254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52360" y="29718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Calibri"/>
              </a:defRPr>
            </a:pPr>
            <a:r>
              <a:t>handle_rejection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52360" y="3182112"/>
            <a:ext cx="201168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D1D5DB"/>
                </a:solidFill>
                <a:latin typeface="Calibri"/>
              </a:defRPr>
            </a:pPr>
            <a:r>
              <a:t>Block message</a:t>
            </a:r>
            <a:br/>
            <a:r>
              <a:t>Violation details</a:t>
            </a:r>
            <a:br/>
            <a:r>
              <a:t>Log and notify user</a:t>
            </a:r>
          </a:p>
        </p:txBody>
      </p:sp>
      <p:sp>
        <p:nvSpPr>
          <p:cNvPr id="39" name="Oval 38"/>
          <p:cNvSpPr/>
          <p:nvPr/>
        </p:nvSpPr>
        <p:spPr>
          <a:xfrm>
            <a:off x="10058400" y="2286000"/>
            <a:ext cx="73152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END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0" y="3840480"/>
            <a:ext cx="685800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4880" y="3931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Agent Details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754880" y="4251960"/>
            <a:ext cx="1463040" cy="320040"/>
          </a:xfrm>
          <a:prstGeom prst="roundRect">
            <a:avLst/>
          </a:prstGeom>
          <a:solidFill>
            <a:srgbClr val="273449"/>
          </a:solidFill>
          <a:ln w="127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46320" y="4279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C4899"/>
                </a:solidFill>
                <a:latin typeface="Calibri"/>
              </a:defRPr>
            </a:pPr>
            <a:r>
              <a:t>SQLAgent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0" y="427024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1D5DB"/>
                </a:solidFill>
                <a:latin typeface="Calibri"/>
              </a:defRPr>
            </a:pPr>
            <a:r>
              <a:t>GPT-4o-mini LLM, FHIR R4 prompt with all 12 table schemas,</a:t>
            </a:r>
            <a:br/>
            <a:r>
              <a:t>relationships, AGE() guidance, SELECT * prohibition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754880" y="4690872"/>
            <a:ext cx="1463040" cy="320040"/>
          </a:xfrm>
          <a:prstGeom prst="roundRect">
            <a:avLst/>
          </a:prstGeom>
          <a:solidFill>
            <a:srgbClr val="273449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46320" y="471830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B5CF6"/>
                </a:solidFill>
                <a:latin typeface="Calibri"/>
              </a:defRPr>
            </a:pPr>
            <a:r>
              <a:t>ClassifierAgent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60" y="47091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1D5DB"/>
                </a:solidFill>
                <a:latin typeface="Calibri"/>
              </a:defRPr>
            </a:pPr>
            <a:r>
              <a:t>Rule-based PHI detection (40+ patterns), risk scoring,</a:t>
            </a:r>
            <a:br/>
            <a:r>
              <a:t>toxicity analysis, READ/WRITE/UNSAFE classification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754880" y="5129784"/>
            <a:ext cx="1463040" cy="320040"/>
          </a:xfrm>
          <a:prstGeom prst="roundRect">
            <a:avLst/>
          </a:prstGeom>
          <a:solidFill>
            <a:srgbClr val="273449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46320" y="515721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  <a:latin typeface="Calibri"/>
              </a:defRPr>
            </a:pPr>
            <a:r>
              <a:t>ExecutorAgent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60" y="514807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1D5DB"/>
                </a:solidFill>
                <a:latin typeface="Calibri"/>
              </a:defRPr>
            </a:pPr>
            <a:r>
              <a:t>asyncpg connection pool, parameterized query execution,</a:t>
            </a:r>
            <a:br/>
            <a:r>
              <a:t>PHI masking on results, timeout protection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754880" y="5568696"/>
            <a:ext cx="1463040" cy="320040"/>
          </a:xfrm>
          <a:prstGeom prst="roundRect">
            <a:avLst/>
          </a:prstGeom>
          <a:solidFill>
            <a:srgbClr val="273449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846320" y="55961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  <a:latin typeface="Calibri"/>
              </a:defRPr>
            </a:pPr>
            <a:r>
              <a:t>HITLAgent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09360" y="558698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1D5DB"/>
                </a:solidFill>
                <a:latin typeface="Calibri"/>
              </a:defRPr>
            </a:pPr>
            <a:r>
              <a:t>LangGraph interrupt/resume, Redis pub/sub notifications,</a:t>
            </a:r>
            <a:br/>
            <a:r>
              <a:t>approval task management, reviewer audit trail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FHIR R4 Database Schema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12 FHIR R4 compliant resources in PostgreSQL with proper foreign key relationships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697480" cy="1234440"/>
          </a:xfrm>
          <a:prstGeom prst="roundRect">
            <a:avLst/>
          </a:prstGeom>
          <a:solidFill>
            <a:srgbClr val="1E3A5F"/>
          </a:solidFill>
          <a:ln w="25400">
            <a:solidFill>
              <a:srgbClr val="38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82F6"/>
                </a:solidFill>
                <a:latin typeface="Calibri"/>
              </a:defRPr>
            </a:pPr>
            <a:r>
              <a:t>Patient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81328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Calibri"/>
              </a:defRPr>
            </a:pPr>
            <a:r>
              <a:t>fhir_patients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1D5DB"/>
                </a:solidFill>
                <a:latin typeface="Calibri"/>
              </a:defRPr>
            </a:pPr>
            <a:r>
              <a:t>name_given, name_family, gender,</a:t>
            </a:r>
            <a:br/>
            <a:r>
              <a:t>birth_date, address_*, telecom_*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188720"/>
            <a:ext cx="2697480" cy="1234440"/>
          </a:xfrm>
          <a:prstGeom prst="roundRect">
            <a:avLst/>
          </a:prstGeom>
          <a:solidFill>
            <a:srgbClr val="0D4F4B"/>
          </a:solidFill>
          <a:ln w="254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261872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4B8A6"/>
                </a:solidFill>
                <a:latin typeface="Calibri"/>
              </a:defRPr>
            </a:pPr>
            <a:r>
              <a:t>Practitioner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481328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Calibri"/>
              </a:defRPr>
            </a:pPr>
            <a:r>
              <a:t>fhir_practitioners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69164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1D5DB"/>
                </a:solidFill>
                <a:latin typeface="Calibri"/>
              </a:defRPr>
            </a:pPr>
            <a:r>
              <a:t>name_given, name_family, NPI,</a:t>
            </a:r>
            <a:br/>
            <a:r>
              <a:t>qualification, specialty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2697480" cy="1234440"/>
          </a:xfrm>
          <a:prstGeom prst="roundRect">
            <a:avLst/>
          </a:prstGeom>
          <a:solidFill>
            <a:srgbClr val="064E3B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261872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Organization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481328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Calibri"/>
              </a:defRPr>
            </a:pPr>
            <a:r>
              <a:t>fhir_organizations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69164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1D5DB"/>
                </a:solidFill>
                <a:latin typeface="Calibri"/>
              </a:defRPr>
            </a:pPr>
            <a:r>
              <a:t>name, type, address,</a:t>
            </a:r>
            <a:br/>
            <a:r>
              <a:t>telecom_phone, telecom_email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188720"/>
            <a:ext cx="2697480" cy="1234440"/>
          </a:xfrm>
          <a:prstGeom prst="roundRect">
            <a:avLst/>
          </a:prstGeom>
          <a:solidFill>
            <a:srgbClr val="5C3D0C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261872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Encounter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1481328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Calibri"/>
              </a:defRPr>
            </a:pPr>
            <a:r>
              <a:t>fhir_encounters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169164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1D5DB"/>
                </a:solidFill>
                <a:latin typeface="Calibri"/>
              </a:defRPr>
            </a:pPr>
            <a:r>
              <a:t>status, class, type, period_start,</a:t>
            </a:r>
            <a:br/>
            <a:r>
              <a:t>subject_id → patients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606040"/>
            <a:ext cx="2697480" cy="1234440"/>
          </a:xfrm>
          <a:prstGeom prst="roundRect">
            <a:avLst/>
          </a:prstGeom>
          <a:solidFill>
            <a:srgbClr val="5B2146"/>
          </a:solidFill>
          <a:ln w="254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679192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C4899"/>
                </a:solidFill>
                <a:latin typeface="Calibri"/>
              </a:defRPr>
            </a:pPr>
            <a:r>
              <a:t>Condition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2898648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Calibri"/>
              </a:defRPr>
            </a:pPr>
            <a:r>
              <a:t>fhir_conditions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10896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1D5DB"/>
                </a:solidFill>
                <a:latin typeface="Calibri"/>
              </a:defRPr>
            </a:pPr>
            <a:r>
              <a:t>code (ICD-10), clinical_status,</a:t>
            </a:r>
            <a:br/>
            <a:r>
              <a:t>onset, subject_id → patients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37560" y="2606040"/>
            <a:ext cx="2697480" cy="1234440"/>
          </a:xfrm>
          <a:prstGeom prst="roundRect">
            <a:avLst/>
          </a:prstGeom>
          <a:solidFill>
            <a:srgbClr val="3B246B"/>
          </a:solidFill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0" y="2679192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Calibri"/>
              </a:defRPr>
            </a:pPr>
            <a:r>
              <a:t>Observation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2898648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Calibri"/>
              </a:defRPr>
            </a:pPr>
            <a:r>
              <a:t>fhir_observations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310896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1D5DB"/>
                </a:solidFill>
                <a:latin typeface="Calibri"/>
              </a:defRPr>
            </a:pPr>
            <a:r>
              <a:t>code (LOINC), value, unit,</a:t>
            </a:r>
            <a:br/>
            <a:r>
              <a:t>category, interpretation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2606040"/>
            <a:ext cx="2697480" cy="1234440"/>
          </a:xfrm>
          <a:prstGeom prst="roundRect">
            <a:avLst/>
          </a:prstGeom>
          <a:solidFill>
            <a:srgbClr val="5C1A1A"/>
          </a:solidFill>
          <a:ln w="254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2679192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Calibri"/>
              </a:defRPr>
            </a:pPr>
            <a:r>
              <a:t>MedicationRequest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2898648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Calibri"/>
              </a:defRPr>
            </a:pPr>
            <a:r>
              <a:t>fhir_medication_requests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310896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1D5DB"/>
                </a:solidFill>
                <a:latin typeface="Calibri"/>
              </a:defRPr>
            </a:pPr>
            <a:r>
              <a:t>medication (RxNorm), status,</a:t>
            </a:r>
            <a:br/>
            <a:r>
              <a:t>dosage, subject_id → patients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98280" y="2606040"/>
            <a:ext cx="2697480" cy="1234440"/>
          </a:xfrm>
          <a:prstGeom prst="roundRect">
            <a:avLst/>
          </a:prstGeom>
          <a:solidFill>
            <a:srgbClr val="5C3D0C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35440" y="2679192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AllergyIntolerance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2898648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Calibri"/>
              </a:defRPr>
            </a:pPr>
            <a:r>
              <a:t>fhir_allergy_intolerances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310896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1D5DB"/>
                </a:solidFill>
                <a:latin typeface="Calibri"/>
              </a:defRPr>
            </a:pPr>
            <a:r>
              <a:t>code (SNOMED), criticality,</a:t>
            </a:r>
            <a:br/>
            <a:r>
              <a:t>category, patient_id → patients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023360"/>
            <a:ext cx="2697480" cy="1234440"/>
          </a:xfrm>
          <a:prstGeom prst="roundRect">
            <a:avLst/>
          </a:prstGeom>
          <a:solidFill>
            <a:srgbClr val="064E3B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4096512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Procedure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315968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Calibri"/>
              </a:defRPr>
            </a:pPr>
            <a:r>
              <a:t>fhir_procedures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452628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1D5DB"/>
                </a:solidFill>
                <a:latin typeface="Calibri"/>
              </a:defRPr>
            </a:pPr>
            <a:r>
              <a:t>code (SNOMED/CPT), status,</a:t>
            </a:r>
            <a:br/>
            <a:r>
              <a:t>performed_date, body_site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37560" y="4023360"/>
            <a:ext cx="2697480" cy="1234440"/>
          </a:xfrm>
          <a:prstGeom prst="roundRect">
            <a:avLst/>
          </a:prstGeom>
          <a:solidFill>
            <a:srgbClr val="0D4F4B"/>
          </a:solidFill>
          <a:ln w="254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74720" y="4096512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4B8A6"/>
                </a:solidFill>
                <a:latin typeface="Calibri"/>
              </a:defRPr>
            </a:pPr>
            <a:r>
              <a:t>Immunization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0" y="4315968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Calibri"/>
              </a:defRPr>
            </a:pPr>
            <a:r>
              <a:t>fhir_immunizations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74720" y="452628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1D5DB"/>
                </a:solidFill>
                <a:latin typeface="Calibri"/>
              </a:defRPr>
            </a:pPr>
            <a:r>
              <a:t>vaccine (CVX), lot_number,</a:t>
            </a:r>
            <a:br/>
            <a:r>
              <a:t>occurrence, patient_id → patients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17920" y="4023360"/>
            <a:ext cx="2697480" cy="1234440"/>
          </a:xfrm>
          <a:prstGeom prst="roundRect">
            <a:avLst/>
          </a:prstGeom>
          <a:solidFill>
            <a:srgbClr val="1E3A5F"/>
          </a:solidFill>
          <a:ln w="25400">
            <a:solidFill>
              <a:srgbClr val="38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55080" y="4096512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82F6"/>
                </a:solidFill>
                <a:latin typeface="Calibri"/>
              </a:defRPr>
            </a:pPr>
            <a:r>
              <a:t>DiagnosticReport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4315968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Calibri"/>
              </a:defRPr>
            </a:pPr>
            <a:r>
              <a:t>fhir_diagnostic_reports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5080" y="452628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1D5DB"/>
                </a:solidFill>
                <a:latin typeface="Calibri"/>
              </a:defRPr>
            </a:pPr>
            <a:r>
              <a:t>code (LOINC), conclusion,</a:t>
            </a:r>
            <a:br/>
            <a:r>
              <a:t>effective_date, status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098280" y="4023360"/>
            <a:ext cx="2697480" cy="1234440"/>
          </a:xfrm>
          <a:prstGeom prst="roundRect">
            <a:avLst/>
          </a:prstGeom>
          <a:solidFill>
            <a:srgbClr val="27285B"/>
          </a:solidFill>
          <a:ln w="254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35440" y="4096512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366F1"/>
                </a:solidFill>
                <a:latin typeface="Calibri"/>
              </a:defRPr>
            </a:pPr>
            <a:r>
              <a:t>CarePlan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35440" y="4315968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Calibri"/>
              </a:defRPr>
            </a:pPr>
            <a:r>
              <a:t>fhir_care_plans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35440" y="452628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1D5DB"/>
                </a:solidFill>
                <a:latin typeface="Calibri"/>
              </a:defRPr>
            </a:pPr>
            <a:r>
              <a:t>title, status, intent,</a:t>
            </a:r>
            <a:br/>
            <a:r>
              <a:t>period, description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5440680"/>
            <a:ext cx="1124712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20" y="5486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66F1"/>
                </a:solidFill>
                <a:latin typeface="Calibri"/>
              </a:defRPr>
            </a:pPr>
            <a:r>
              <a:t>Key Relationships &amp; Coding Systems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" y="57607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0">
                <a:solidFill>
                  <a:srgbClr val="D1D5DB"/>
                </a:solidFill>
                <a:latin typeface="Calibri"/>
              </a:rPr>
              <a:t>FK: subject_id → fhir_patients (Encounter, Condition, Observation,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D1D5DB"/>
                </a:solidFill>
                <a:latin typeface="Calibri"/>
              </a:rPr>
              <a:t>    MedicationRequest, Procedure, DiagnosticReport, CarePlan)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F59E0B"/>
                </a:solidFill>
                <a:latin typeface="Calibri"/>
              </a:rPr>
              <a:t>FK: patient_id → fhir_patients (AllergyIntolerance, Immunization)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D1D5DB"/>
                </a:solidFill>
                <a:latin typeface="Calibri"/>
              </a:rPr>
              <a:t>FK: encounter_id → fhir_encounters (all clinical resources)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17920" y="57607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0">
                <a:solidFill>
                  <a:srgbClr val="D1D5DB"/>
                </a:solidFill>
                <a:latin typeface="Calibri"/>
              </a:rPr>
              <a:t>ICD-10-CM — Diagnoses (fhir_conditions.code_code)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D1D5DB"/>
                </a:solidFill>
                <a:latin typeface="Calibri"/>
              </a:rPr>
              <a:t>SNOMED CT — Clinical findings &amp; procedures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D1D5DB"/>
                </a:solidFill>
                <a:latin typeface="Calibri"/>
              </a:rPr>
              <a:t>LOINC — Laboratory &amp; vital signs observations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D1D5DB"/>
                </a:solidFill>
                <a:latin typeface="Calibri"/>
              </a:rPr>
              <a:t>RxNorm — Medications  ·  CVX — Vaccines  ·  CPT — Procedures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MCP Server &amp; Tool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Model Context Protocol server provides schema, validation, and tool execution for the agent orchestrator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566160" cy="20116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GET /schema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1D5DB"/>
                </a:solidFill>
                <a:latin typeface="Calibri"/>
              </a:defRPr>
            </a:pPr>
            <a:r>
              <a:t>Returns database schema for fhir_* tables only.</a:t>
            </a:r>
            <a:br/>
            <a:r>
              <a:t>Filtered via: WHERE table_name LIKE 'fhir_%'</a:t>
            </a:r>
            <a:br/>
            <a:r>
              <a:t>Includes column names, types, nullability.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88720"/>
            <a:ext cx="3566160" cy="20116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2984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POST /validate-sql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60020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1D5DB"/>
                </a:solidFill>
                <a:latin typeface="Calibri"/>
              </a:defRPr>
            </a:pPr>
            <a:r>
              <a:t>Validates SQL before execution.</a:t>
            </a:r>
            <a:br/>
            <a:r>
              <a:t>Blocks: DROP, TRUNCATE, ALTER, GRANT, REVOKE</a:t>
            </a:r>
            <a:br/>
            <a:r>
              <a:t>Detects injection: ;DROP, UNION SELECT, 'OR 1=1'</a:t>
            </a:r>
            <a:br/>
            <a:r>
              <a:t>Warns on missing LIMIT clause.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188720"/>
            <a:ext cx="3566160" cy="20116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2984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82F6"/>
                </a:solidFill>
                <a:latin typeface="Calibri"/>
              </a:defRPr>
            </a:pPr>
            <a:r>
              <a:t>GET /tools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60020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1D5DB"/>
                </a:solidFill>
                <a:latin typeface="Calibri"/>
              </a:defRPr>
            </a:pPr>
            <a:r>
              <a:t>Lists all available MCP tools:</a:t>
            </a:r>
            <a:br/>
            <a:r>
              <a:t>get_fhir_patient, search_fhir_patients,</a:t>
            </a:r>
            <a:br/>
            <a:r>
              <a:t>search_fhir_conditions, search_fhir_observations,</a:t>
            </a:r>
            <a:br/>
            <a:r>
              <a:t>search_fhir_medications, get_fhir_statistics,</a:t>
            </a:r>
            <a:br/>
            <a:r>
              <a:t>list_tables, get_table_schema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74720"/>
            <a:ext cx="3566160" cy="20116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5844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Calibri"/>
              </a:defRPr>
            </a:pPr>
            <a:r>
              <a:t>POST /tools/:name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88620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1D5DB"/>
                </a:solidFill>
                <a:latin typeface="Calibri"/>
              </a:defRPr>
            </a:pPr>
            <a:r>
              <a:t>Executes a specific tool with arguments.</a:t>
            </a:r>
            <a:br/>
            <a:r>
              <a:t>Passes pg.Pool connection to tool handler.</a:t>
            </a:r>
            <a:br/>
            <a:r>
              <a:t>Returns structured JSON results.</a:t>
            </a:r>
            <a:br/>
            <a:r>
              <a:t>Used for targeted data access.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3474720"/>
            <a:ext cx="3566160" cy="20116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35844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GET /resources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88620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1D5DB"/>
                </a:solidFill>
                <a:latin typeface="Calibri"/>
              </a:defRPr>
            </a:pPr>
            <a:r>
              <a:t>Lists FHIR resource bundles:</a:t>
            </a:r>
            <a:br/>
            <a:r>
              <a:t>Patient Bundle, Practitioner Bundle,</a:t>
            </a:r>
            <a:br/>
            <a:r>
              <a:t>Organization Bundle, Encounter Bundle,</a:t>
            </a:r>
            <a:br/>
            <a:r>
              <a:t>FHIR relationship mappings.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474720"/>
            <a:ext cx="3566160" cy="20116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35844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CA3AF"/>
                </a:solidFill>
                <a:latin typeface="Calibri"/>
              </a:defRPr>
            </a:pPr>
            <a:r>
              <a:t>GET /health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88620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1D5DB"/>
                </a:solidFill>
                <a:latin typeface="Calibri"/>
              </a:defRPr>
            </a:pPr>
            <a:r>
              <a:t>Service health check.</a:t>
            </a:r>
            <a:br/>
            <a:r>
              <a:t>Verifies PostgreSQL connection.</a:t>
            </a:r>
            <a:br/>
            <a:r>
              <a:t>Verifies Redis connection.</a:t>
            </a:r>
            <a:br/>
            <a:r>
              <a:t>Returns service status.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760720"/>
            <a:ext cx="112471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806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Connection Architecture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080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D1D5DB"/>
                </a:solidFill>
                <a:latin typeface="Calibri"/>
              </a:rPr>
              <a:t>Agent Orchestrator → HTTP → MCP Server (Port 3001) → pg.Pool → PostgreSQL (Port 5432) → fhir_* tables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9CA3AF"/>
                </a:solidFill>
                <a:latin typeface="Calibri"/>
              </a:rPr>
              <a:t>MCP Server → Redis (DB 1) for schema caching  ·  Schema refreshed on each agent request  ·  SQL validation is stateless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Security, PHI &amp;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Multi-layered HIPAA-aligned protection with automated and human governance controls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566160" cy="2240280"/>
          </a:xfrm>
          <a:prstGeom prst="roundRect">
            <a:avLst/>
          </a:prstGeom>
          <a:solidFill>
            <a:srgbClr val="5C1A1A"/>
          </a:solidFill>
          <a:ln w="254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PHI Detection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D1D5DB"/>
                </a:solidFill>
                <a:latin typeface="Calibri"/>
              </a:rPr>
              <a:t>  •  40+ sensitive column patterns detected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D1D5DB"/>
                </a:solidFill>
                <a:latin typeface="Calibri"/>
              </a:rPr>
              <a:t>  •  Blocked columns: SSN, Passport, Drivers License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D1D5DB"/>
                </a:solidFill>
                <a:latin typeface="Calibri"/>
              </a:rPr>
              <a:t>  •  HITL required: Name, Birth Date, Phone, Email, MRN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D1D5DB"/>
                </a:solidFill>
                <a:latin typeface="Calibri"/>
              </a:rPr>
              <a:t>  •  Supports both Synthea &amp; FHIR column naming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D1D5DB"/>
                </a:solidFill>
                <a:latin typeface="Calibri"/>
              </a:rPr>
              <a:t>  •  Masking levels: FULL, PARTIAL, REDACT, NONE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88720"/>
            <a:ext cx="3566160" cy="2240280"/>
          </a:xfrm>
          <a:prstGeom prst="roundRect">
            <a:avLst/>
          </a:prstGeom>
          <a:solidFill>
            <a:srgbClr val="5B2146"/>
          </a:solidFill>
          <a:ln w="254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2984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C4899"/>
                </a:solidFill>
                <a:latin typeface="Calibri"/>
              </a:defRPr>
            </a:pPr>
            <a:r>
              <a:t>Toxicity Filter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60020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D1D5DB"/>
                </a:solidFill>
                <a:latin typeface="Calibri"/>
              </a:rPr>
              <a:t>  •  Hate speech &amp; discrimination detection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D1D5DB"/>
                </a:solidFill>
                <a:latin typeface="Calibri"/>
              </a:rPr>
              <a:t>  •  Data exfiltration attempt blocking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D1D5DB"/>
                </a:solidFill>
                <a:latin typeface="Calibri"/>
              </a:rPr>
              <a:t>  •  Malicious intent recognition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D1D5DB"/>
                </a:solidFill>
                <a:latin typeface="Calibri"/>
              </a:rPr>
              <a:t>  •  Privacy violation detection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D1D5DB"/>
                </a:solidFill>
                <a:latin typeface="Calibri"/>
              </a:rPr>
              <a:t>  •  Bulk sensitive data request blocking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188720"/>
            <a:ext cx="3566160" cy="2240280"/>
          </a:xfrm>
          <a:prstGeom prst="roundRect">
            <a:avLst/>
          </a:prstGeom>
          <a:solidFill>
            <a:srgbClr val="5C3D0C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2984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SQL Safety Guards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60020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D1D5DB"/>
                </a:solidFill>
                <a:latin typeface="Calibri"/>
              </a:rPr>
              <a:t>  •  SELECT * always blocked (data minimization)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D1D5DB"/>
                </a:solidFill>
                <a:latin typeface="Calibri"/>
              </a:rPr>
              <a:t>  •  DROP/TRUNCATE/ALTER/GRANT blocked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D1D5DB"/>
                </a:solidFill>
                <a:latin typeface="Calibri"/>
              </a:rPr>
              <a:t>  •  SQL injection pattern detection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D1D5DB"/>
                </a:solidFill>
                <a:latin typeface="Calibri"/>
              </a:rPr>
              <a:t>  •  UPDATE/DELETE without WHERE blocked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D1D5DB"/>
                </a:solidFill>
                <a:latin typeface="Calibri"/>
              </a:rPr>
              <a:t>  •  LIMIT enforcement on all queries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657600"/>
            <a:ext cx="3566160" cy="2240280"/>
          </a:xfrm>
          <a:prstGeom prst="roundRect">
            <a:avLst/>
          </a:prstGeom>
          <a:solidFill>
            <a:srgbClr val="1E3A5F"/>
          </a:solidFill>
          <a:ln w="25400">
            <a:solidFill>
              <a:srgbClr val="38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7673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82F6"/>
                </a:solidFill>
                <a:latin typeface="Calibri"/>
              </a:defRPr>
            </a:pPr>
            <a:r>
              <a:t>Human-in-the-Loop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690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D1D5DB"/>
                </a:solidFill>
                <a:latin typeface="Calibri"/>
              </a:rPr>
              <a:t>  •  All WRITE operations require approval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D1D5DB"/>
                </a:solidFill>
                <a:latin typeface="Calibri"/>
              </a:rPr>
              <a:t>  •  PHI column access requires approval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D1D5DB"/>
                </a:solidFill>
                <a:latin typeface="Calibri"/>
              </a:rPr>
              <a:t>  •  Risk score visualization (0-100%)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D1D5DB"/>
                </a:solidFill>
                <a:latin typeface="Calibri"/>
              </a:rPr>
              <a:t>  •  Reviewer notes and audit trail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D1D5DB"/>
                </a:solidFill>
                <a:latin typeface="Calibri"/>
              </a:rPr>
              <a:t>  •  LangGraph interrupt/resume mechanism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3657600"/>
            <a:ext cx="3566160" cy="2240280"/>
          </a:xfrm>
          <a:prstGeom prst="roundRect">
            <a:avLst/>
          </a:prstGeom>
          <a:solidFill>
            <a:srgbClr val="27285B"/>
          </a:solidFill>
          <a:ln w="254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37673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Calibri"/>
              </a:defRPr>
            </a:pPr>
            <a:r>
              <a:t>Audit Trail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0690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D1D5DB"/>
                </a:solidFill>
                <a:latin typeface="Calibri"/>
              </a:rPr>
              <a:t>  •  Every query logged: NL → SQL → result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D1D5DB"/>
                </a:solidFill>
                <a:latin typeface="Calibri"/>
              </a:rPr>
              <a:t>  •  Classification &amp; risk scores recorded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D1D5DB"/>
                </a:solidFill>
                <a:latin typeface="Calibri"/>
              </a:rPr>
              <a:t>  •  Reviewer decisions with timestamps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D1D5DB"/>
                </a:solidFill>
                <a:latin typeface="Calibri"/>
              </a:rPr>
              <a:t>  •  Agent-to-agent interaction logs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D1D5DB"/>
                </a:solidFill>
                <a:latin typeface="Calibri"/>
              </a:rPr>
              <a:t>  •  Full session reconstruction capability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657600"/>
            <a:ext cx="3566160" cy="2240280"/>
          </a:xfrm>
          <a:prstGeom prst="roundRect">
            <a:avLst/>
          </a:prstGeom>
          <a:solidFill>
            <a:srgbClr val="064E3B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37673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Data Classification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0690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D1D5DB"/>
                </a:solidFill>
                <a:latin typeface="Calibri"/>
              </a:rPr>
              <a:t>  •  READ — auto-executed, low risk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D1D5DB"/>
                </a:solidFill>
                <a:latin typeface="Calibri"/>
              </a:rPr>
              <a:t>  •  WRITE — requires HITL approval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D1D5DB"/>
                </a:solidFill>
                <a:latin typeface="Calibri"/>
              </a:rPr>
              <a:t>  •  UNSAFE — immediately blocked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D1D5DB"/>
                </a:solidFill>
                <a:latin typeface="Calibri"/>
              </a:rPr>
              <a:t>  •  Risk score: 0.0 (safe) to 1.0 (blocked)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D1D5DB"/>
                </a:solidFill>
                <a:latin typeface="Calibri"/>
              </a:rPr>
              <a:t>  •  Dynamic scoring based on PHI + complexity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2697480" cy="5486400"/>
          </a:xfrm>
          <a:prstGeom prst="roundRect">
            <a:avLst/>
          </a:prstGeom>
          <a:solidFill>
            <a:srgbClr val="1E3A5F"/>
          </a:solidFill>
          <a:ln w="25400">
            <a:solidFill>
              <a:srgbClr val="38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0584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882F6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2514600" cy="411480"/>
          </a:xfrm>
          <a:prstGeom prst="roundRect">
            <a:avLst/>
          </a:prstGeom>
          <a:solidFill>
            <a:srgbClr val="273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89888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882F6"/>
                </a:solidFill>
                <a:latin typeface="Calibri"/>
              </a:defRPr>
            </a:pPr>
            <a:r>
              <a:t>React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72768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Calibri"/>
              </a:defRPr>
            </a:pPr>
            <a:r>
              <a:t>Component-based UI framework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74520"/>
            <a:ext cx="2514600" cy="411480"/>
          </a:xfrm>
          <a:prstGeom prst="roundRect">
            <a:avLst/>
          </a:prstGeom>
          <a:solidFill>
            <a:srgbClr val="273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92808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882F6"/>
                </a:solidFill>
                <a:latin typeface="Calibri"/>
              </a:defRPr>
            </a:pPr>
            <a:r>
              <a:t>TypeScript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Calibri"/>
              </a:defRPr>
            </a:pPr>
            <a:r>
              <a:t>Type-safe development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377440"/>
            <a:ext cx="2514600" cy="411480"/>
          </a:xfrm>
          <a:prstGeom prst="roundRect">
            <a:avLst/>
          </a:prstGeom>
          <a:solidFill>
            <a:srgbClr val="273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395728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882F6"/>
                </a:solidFill>
                <a:latin typeface="Calibri"/>
              </a:defRPr>
            </a:pPr>
            <a:r>
              <a:t>Vite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78608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Calibri"/>
              </a:defRPr>
            </a:pPr>
            <a:r>
              <a:t>Fast build tool &amp; HMR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80360"/>
            <a:ext cx="2514600" cy="411480"/>
          </a:xfrm>
          <a:prstGeom prst="roundRect">
            <a:avLst/>
          </a:prstGeom>
          <a:solidFill>
            <a:srgbClr val="273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898648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882F6"/>
                </a:solidFill>
                <a:latin typeface="Calibri"/>
              </a:defRPr>
            </a:pPr>
            <a:r>
              <a:t>Tailwind CSS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081528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Calibri"/>
              </a:defRPr>
            </a:pPr>
            <a:r>
              <a:t>Utility-first styling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383280"/>
            <a:ext cx="2514600" cy="411480"/>
          </a:xfrm>
          <a:prstGeom prst="roundRect">
            <a:avLst/>
          </a:prstGeom>
          <a:solidFill>
            <a:srgbClr val="273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401568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882F6"/>
                </a:solidFill>
                <a:latin typeface="Calibri"/>
              </a:defRPr>
            </a:pPr>
            <a:r>
              <a:t>Zustand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84448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Calibri"/>
              </a:defRPr>
            </a:pPr>
            <a:r>
              <a:t>Lightweight state management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886200"/>
            <a:ext cx="2514600" cy="411480"/>
          </a:xfrm>
          <a:prstGeom prst="roundRect">
            <a:avLst/>
          </a:prstGeom>
          <a:solidFill>
            <a:srgbClr val="273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904488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882F6"/>
                </a:solidFill>
                <a:latin typeface="Calibri"/>
              </a:defRPr>
            </a:pPr>
            <a:r>
              <a:t>React Router v6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087368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Calibri"/>
              </a:defRPr>
            </a:pPr>
            <a:r>
              <a:t>Client-side routing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389120"/>
            <a:ext cx="2514600" cy="411480"/>
          </a:xfrm>
          <a:prstGeom prst="roundRect">
            <a:avLst/>
          </a:prstGeom>
          <a:solidFill>
            <a:srgbClr val="273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407408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882F6"/>
                </a:solidFill>
                <a:latin typeface="Calibri"/>
              </a:defRPr>
            </a:pPr>
            <a:r>
              <a:t>Socket.IO Client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590288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Calibri"/>
              </a:defRPr>
            </a:pPr>
            <a:r>
              <a:t>WebSocket communication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892040"/>
            <a:ext cx="2514600" cy="411480"/>
          </a:xfrm>
          <a:prstGeom prst="roundRect">
            <a:avLst/>
          </a:prstGeom>
          <a:solidFill>
            <a:srgbClr val="273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910328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882F6"/>
                </a:solidFill>
                <a:latin typeface="Calibri"/>
              </a:defRPr>
            </a:pPr>
            <a:r>
              <a:t>Axios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093208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Calibri"/>
              </a:defRPr>
            </a:pPr>
            <a:r>
              <a:t>HTTP REST API client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394960"/>
            <a:ext cx="2514600" cy="411480"/>
          </a:xfrm>
          <a:prstGeom prst="roundRect">
            <a:avLst/>
          </a:prstGeom>
          <a:solidFill>
            <a:srgbClr val="273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413248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882F6"/>
                </a:solidFill>
                <a:latin typeface="Calibri"/>
              </a:defRPr>
            </a:pPr>
            <a:r>
              <a:t>Lucide React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596128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Calibri"/>
              </a:defRPr>
            </a:pPr>
            <a:r>
              <a:t>Icon library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37560" y="914400"/>
            <a:ext cx="2697480" cy="5486400"/>
          </a:xfrm>
          <a:prstGeom prst="roundRect">
            <a:avLst/>
          </a:prstGeom>
          <a:solidFill>
            <a:srgbClr val="064E3B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0" y="100584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0B981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29000" y="1371600"/>
            <a:ext cx="2514600" cy="411480"/>
          </a:xfrm>
          <a:prstGeom prst="roundRect">
            <a:avLst/>
          </a:prstGeom>
          <a:solidFill>
            <a:srgbClr val="273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20440" y="1389888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Django 4.2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0440" y="1572768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Calibri"/>
              </a:defRPr>
            </a:pPr>
            <a:r>
              <a:t>Web framework + ORM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29000" y="1874520"/>
            <a:ext cx="2514600" cy="411480"/>
          </a:xfrm>
          <a:prstGeom prst="roundRect">
            <a:avLst/>
          </a:prstGeom>
          <a:solidFill>
            <a:srgbClr val="273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20440" y="1892808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Django REST Framework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20440" y="2075688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Calibri"/>
              </a:defRPr>
            </a:pPr>
            <a:r>
              <a:t>REST API toolkit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429000" y="2377440"/>
            <a:ext cx="2514600" cy="411480"/>
          </a:xfrm>
          <a:prstGeom prst="roundRect">
            <a:avLst/>
          </a:prstGeom>
          <a:solidFill>
            <a:srgbClr val="273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20440" y="2395728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Gunicorn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20440" y="2578608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Calibri"/>
              </a:defRPr>
            </a:pPr>
            <a:r>
              <a:t>WSGI HTTP server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429000" y="2880360"/>
            <a:ext cx="2514600" cy="411480"/>
          </a:xfrm>
          <a:prstGeom prst="roundRect">
            <a:avLst/>
          </a:prstGeom>
          <a:solidFill>
            <a:srgbClr val="273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20440" y="2898648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django-filters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20440" y="3081528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Calibri"/>
              </a:defRPr>
            </a:pPr>
            <a:r>
              <a:t>QuerySet filtering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429000" y="3383280"/>
            <a:ext cx="2514600" cy="411480"/>
          </a:xfrm>
          <a:prstGeom prst="roundRect">
            <a:avLst/>
          </a:prstGeom>
          <a:solidFill>
            <a:srgbClr val="273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20440" y="3401568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django-cors-headers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20440" y="3584448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Calibri"/>
              </a:defRPr>
            </a:pPr>
            <a:r>
              <a:t>CORS middleware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429000" y="3886200"/>
            <a:ext cx="2514600" cy="411480"/>
          </a:xfrm>
          <a:prstGeom prst="roundRect">
            <a:avLst/>
          </a:prstGeom>
          <a:solidFill>
            <a:srgbClr val="273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520440" y="3904488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django-redis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20440" y="4087368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Calibri"/>
              </a:defRPr>
            </a:pPr>
            <a:r>
              <a:t>Cache backend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429000" y="4389120"/>
            <a:ext cx="2514600" cy="411480"/>
          </a:xfrm>
          <a:prstGeom prst="roundRect">
            <a:avLst/>
          </a:prstGeom>
          <a:solidFill>
            <a:srgbClr val="273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520440" y="4407408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dj-database-url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20440" y="4590288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Calibri"/>
              </a:defRPr>
            </a:pPr>
            <a:r>
              <a:t>Database URL parsing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429000" y="4892040"/>
            <a:ext cx="2514600" cy="411480"/>
          </a:xfrm>
          <a:prstGeom prst="roundRect">
            <a:avLst/>
          </a:prstGeom>
          <a:solidFill>
            <a:srgbClr val="273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520440" y="4910328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psycopg2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20440" y="5093208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Calibri"/>
              </a:defRPr>
            </a:pPr>
            <a:r>
              <a:t>PostgreSQL adapter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17920" y="914400"/>
            <a:ext cx="2697480" cy="5486400"/>
          </a:xfrm>
          <a:prstGeom prst="roundRect">
            <a:avLst/>
          </a:prstGeom>
          <a:solidFill>
            <a:srgbClr val="5B2146"/>
          </a:solidFill>
          <a:ln w="254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55080" y="100584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C4899"/>
                </a:solidFill>
                <a:latin typeface="Calibri"/>
              </a:defRPr>
            </a:pPr>
            <a:r>
              <a:t>AI / Agents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309360" y="1371600"/>
            <a:ext cx="2514600" cy="411480"/>
          </a:xfrm>
          <a:prstGeom prst="roundRect">
            <a:avLst/>
          </a:prstGeom>
          <a:solidFill>
            <a:srgbClr val="273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00800" y="1389888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C4899"/>
                </a:solidFill>
                <a:latin typeface="Calibri"/>
              </a:defRPr>
            </a:pPr>
            <a:r>
              <a:t>LangGraph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0" y="1572768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Calibri"/>
              </a:defRPr>
            </a:pPr>
            <a:r>
              <a:t>Stateful agent workflow graph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309360" y="1874520"/>
            <a:ext cx="2514600" cy="411480"/>
          </a:xfrm>
          <a:prstGeom prst="roundRect">
            <a:avLst/>
          </a:prstGeom>
          <a:solidFill>
            <a:srgbClr val="273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00800" y="1892808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C4899"/>
                </a:solidFill>
                <a:latin typeface="Calibri"/>
              </a:defRPr>
            </a:pPr>
            <a:r>
              <a:t>LangChain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00800" y="2075688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Calibri"/>
              </a:defRPr>
            </a:pPr>
            <a:r>
              <a:t>LLM orchestration framework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309360" y="2377440"/>
            <a:ext cx="2514600" cy="411480"/>
          </a:xfrm>
          <a:prstGeom prst="roundRect">
            <a:avLst/>
          </a:prstGeom>
          <a:solidFill>
            <a:srgbClr val="273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00800" y="2395728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C4899"/>
                </a:solidFill>
                <a:latin typeface="Calibri"/>
              </a:defRPr>
            </a:pPr>
            <a:r>
              <a:t>OpenAI GPT-4o-mini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0" y="2578608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Calibri"/>
              </a:defRPr>
            </a:pPr>
            <a:r>
              <a:t>SQL generation LLM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309360" y="2880360"/>
            <a:ext cx="2514600" cy="411480"/>
          </a:xfrm>
          <a:prstGeom prst="roundRect">
            <a:avLst/>
          </a:prstGeom>
          <a:solidFill>
            <a:srgbClr val="273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00800" y="2898648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C4899"/>
                </a:solidFill>
                <a:latin typeface="Calibri"/>
              </a:defRPr>
            </a:pPr>
            <a:r>
              <a:t>FastAPI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00800" y="3081528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Calibri"/>
              </a:defRPr>
            </a:pPr>
            <a:r>
              <a:t>Async API framework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309360" y="3383280"/>
            <a:ext cx="2514600" cy="411480"/>
          </a:xfrm>
          <a:prstGeom prst="roundRect">
            <a:avLst/>
          </a:prstGeom>
          <a:solidFill>
            <a:srgbClr val="273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00800" y="3401568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C4899"/>
                </a:solidFill>
                <a:latin typeface="Calibri"/>
              </a:defRPr>
            </a:pPr>
            <a:r>
              <a:t>Uvicorn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00800" y="3584448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Calibri"/>
              </a:defRPr>
            </a:pPr>
            <a:r>
              <a:t>ASGI server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309360" y="3886200"/>
            <a:ext cx="2514600" cy="411480"/>
          </a:xfrm>
          <a:prstGeom prst="roundRect">
            <a:avLst/>
          </a:prstGeom>
          <a:solidFill>
            <a:srgbClr val="273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00800" y="3904488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C4899"/>
                </a:solidFill>
                <a:latin typeface="Calibri"/>
              </a:defRPr>
            </a:pPr>
            <a:r>
              <a:t>asyncpg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0" y="4087368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Calibri"/>
              </a:defRPr>
            </a:pPr>
            <a:r>
              <a:t>Async PostgreSQL driver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309360" y="4389120"/>
            <a:ext cx="2514600" cy="411480"/>
          </a:xfrm>
          <a:prstGeom prst="roundRect">
            <a:avLst/>
          </a:prstGeom>
          <a:solidFill>
            <a:srgbClr val="273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400800" y="4407408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C4899"/>
                </a:solidFill>
                <a:latin typeface="Calibri"/>
              </a:defRPr>
            </a:pPr>
            <a:r>
              <a:t>LangSmith / Langfuse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00800" y="4590288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Calibri"/>
              </a:defRPr>
            </a:pPr>
            <a:r>
              <a:t>Observability &amp; tracing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309360" y="4892040"/>
            <a:ext cx="2514600" cy="411480"/>
          </a:xfrm>
          <a:prstGeom prst="roundRect">
            <a:avLst/>
          </a:prstGeom>
          <a:solidFill>
            <a:srgbClr val="273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400800" y="4910328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C4899"/>
                </a:solidFill>
                <a:latin typeface="Calibri"/>
              </a:defRPr>
            </a:pPr>
            <a:r>
              <a:t>httpx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400800" y="5093208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Calibri"/>
              </a:defRPr>
            </a:pPr>
            <a:r>
              <a:t>Async HTTP client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098280" y="914400"/>
            <a:ext cx="2697480" cy="5486400"/>
          </a:xfrm>
          <a:prstGeom prst="roundRect">
            <a:avLst/>
          </a:prstGeom>
          <a:solidFill>
            <a:srgbClr val="27285B"/>
          </a:solidFill>
          <a:ln w="254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235440" y="100584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366F1"/>
                </a:solidFill>
                <a:latin typeface="Calibri"/>
              </a:defRPr>
            </a:pPr>
            <a:r>
              <a:t>Infrastructure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9189720" y="1371600"/>
            <a:ext cx="2514600" cy="411480"/>
          </a:xfrm>
          <a:prstGeom prst="roundRect">
            <a:avLst/>
          </a:prstGeom>
          <a:solidFill>
            <a:srgbClr val="273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281160" y="1389888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366F1"/>
                </a:solidFill>
                <a:latin typeface="Calibri"/>
              </a:defRPr>
            </a:pPr>
            <a:r>
              <a:t>Docker Compose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281160" y="1572768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Calibri"/>
              </a:defRPr>
            </a:pPr>
            <a:r>
              <a:t>Multi-service orchestration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9189720" y="1874520"/>
            <a:ext cx="2514600" cy="411480"/>
          </a:xfrm>
          <a:prstGeom prst="roundRect">
            <a:avLst/>
          </a:prstGeom>
          <a:solidFill>
            <a:srgbClr val="273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281160" y="1892808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366F1"/>
                </a:solidFill>
                <a:latin typeface="Calibri"/>
              </a:defRPr>
            </a:pPr>
            <a:r>
              <a:t>PostgreSQL 16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281160" y="2075688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Calibri"/>
              </a:defRPr>
            </a:pPr>
            <a:r>
              <a:t>Primary database (Alpine)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9189720" y="2377440"/>
            <a:ext cx="2514600" cy="411480"/>
          </a:xfrm>
          <a:prstGeom prst="roundRect">
            <a:avLst/>
          </a:prstGeom>
          <a:solidFill>
            <a:srgbClr val="273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281160" y="2395728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366F1"/>
                </a:solidFill>
                <a:latin typeface="Calibri"/>
              </a:defRPr>
            </a:pPr>
            <a:r>
              <a:t>Redis 7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281160" y="2578608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Calibri"/>
              </a:defRPr>
            </a:pPr>
            <a:r>
              <a:t>Cache + Pub/Sub (Alpine)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9189720" y="2880360"/>
            <a:ext cx="2514600" cy="411480"/>
          </a:xfrm>
          <a:prstGeom prst="roundRect">
            <a:avLst/>
          </a:prstGeom>
          <a:solidFill>
            <a:srgbClr val="273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281160" y="2898648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366F1"/>
                </a:solidFill>
                <a:latin typeface="Calibri"/>
              </a:defRPr>
            </a:pPr>
            <a:r>
              <a:t>Nginx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281160" y="3081528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Calibri"/>
              </a:defRPr>
            </a:pPr>
            <a:r>
              <a:t>Static file server / reverse proxy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9189720" y="3383280"/>
            <a:ext cx="2514600" cy="411480"/>
          </a:xfrm>
          <a:prstGeom prst="roundRect">
            <a:avLst/>
          </a:prstGeom>
          <a:solidFill>
            <a:srgbClr val="273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281160" y="3401568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366F1"/>
                </a:solidFill>
                <a:latin typeface="Calibri"/>
              </a:defRPr>
            </a:pPr>
            <a:r>
              <a:t>Node.js 20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281160" y="3584448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Calibri"/>
              </a:defRPr>
            </a:pPr>
            <a:r>
              <a:t>MCP + WS server runtime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9189720" y="3886200"/>
            <a:ext cx="2514600" cy="411480"/>
          </a:xfrm>
          <a:prstGeom prst="roundRect">
            <a:avLst/>
          </a:prstGeom>
          <a:solidFill>
            <a:srgbClr val="273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281160" y="3904488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366F1"/>
                </a:solidFill>
                <a:latin typeface="Calibri"/>
              </a:defRPr>
            </a:pPr>
            <a:r>
              <a:t>Express.js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281160" y="4087368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Calibri"/>
              </a:defRPr>
            </a:pPr>
            <a:r>
              <a:t>MCP HTTP framework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9189720" y="4389120"/>
            <a:ext cx="2514600" cy="411480"/>
          </a:xfrm>
          <a:prstGeom prst="roundRect">
            <a:avLst/>
          </a:prstGeom>
          <a:solidFill>
            <a:srgbClr val="273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281160" y="4407408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366F1"/>
                </a:solidFill>
                <a:latin typeface="Calibri"/>
              </a:defRPr>
            </a:pPr>
            <a:r>
              <a:t>Socket.IO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281160" y="4590288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Calibri"/>
              </a:defRPr>
            </a:pPr>
            <a:r>
              <a:t>Real-time WebSocket server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9189720" y="4892040"/>
            <a:ext cx="2514600" cy="411480"/>
          </a:xfrm>
          <a:prstGeom prst="roundRect">
            <a:avLst/>
          </a:prstGeom>
          <a:solidFill>
            <a:srgbClr val="273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281160" y="4910328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366F1"/>
                </a:solidFill>
                <a:latin typeface="Calibri"/>
              </a:defRPr>
            </a:pPr>
            <a:r>
              <a:t>node-postgres (pg)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281160" y="5093208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Calibri"/>
              </a:defRPr>
            </a:pPr>
            <a:r>
              <a:t>PostgreSQL connection pool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